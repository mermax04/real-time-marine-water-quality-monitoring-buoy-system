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แนะนำตัว ชื่อเรื่อง และภาพรวมสั้นๆ ว่าเป็นระบบ IoT ตรวจวัดคุณภาพน้ำทะเลเรียลไทม์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เล่าปัญหาการตรวจน้ำแบบเดิม ความจำเป็นในการเฝ้าระวังต่อเนื่อง และที่มาของการเลือกโหมดตามมาตรฐานไทย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อ่านวัตถุประสงค์ 4 ข้อ และขอบเขต เน้นว่าวัดได้ 7 ค่าจากหัววัดที่ติดตั้งจริง ไม่รวมค่าที่ต้องใช้แล็บหรือหัววัดเสริม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อธิบายการไหลของข้อมูล ซ้าย→ขวา และเน้นหลักการแยกหน้าที่ ทุ่นเบา คลาวด์ประมวลผล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อธิบายภาคจ่ายไฟโซลาร์ → แบต → delay → 12V และฮาร์ดแวร์หลัก เน้นเรื่อง common ground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ระบบวัด 7 ค่าจากหัววัด 4 ชนิดที่ติดตั้งจริง อธิบายเหตุผลที่ไม่มี ORP/CHL/น้ำมัน/สาหร่าย (ไม่ได้ติดหัววัด พิสูจน์จากข้อมูลจริง) และไม่มี TDS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จุดขายหลักของป.นิพนธ์ — มาตรฐานไทย 6 ประเภท เลือกได้ มีผลต่อการตัดสินและแจ้งเตือนทั้งระบบ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อธิบายสีรายค่า 3 ระดับ และ Model A ว่าแยกวิกฤต/เฝ้าระวัง ยกตัวอย่าง DO 3.5 ต่างโหมดต่างผล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โชว์เว็บจริง (เปลี่ยน placeholder เป็น screenshot) เล่าฟีเจอร์ 7 การ์ด สีสถานะ แผนที่ และ export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เดโมคำสั่งบอทและการแจ้งเตือน เน้นว่า /mode เปลี่ยนโหมดได้จาก Telegram เช่นกัน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อธิบายระบบสิทธิ์ 2 ระดับ (ปลอดภัยฝั่งเซิร์ฟเวอร์) และการตรวจสถานะทุ่น + heartbeat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สรุปผลทดสอบ 23 เคส ผ่าน 100% ครบ 6 โหมด แล้วไล่ขอบเขตการทดสอบหลัก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ไล่ตารางเทียบทีละแถว เน้นว่าระบบใหม่ครอบคลุมและยืดหยุ่นกว่าเดิมในทุกมิติ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สรุปว่าทำครบตามวัตถุประสงค์และผ่านการทดสอบ แล้วเสนอแนวทางต่อยอด 6 ข้อ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ปิดการนำเสนอ ขอบคุณ และเปิดให้ซักถาม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3108960"/>
            <a:ext cx="4754880" cy="4754880"/>
          </a:xfrm>
          <a:prstGeom prst="ellipse">
            <a:avLst/>
          </a:prstGeom>
          <a:ln w="19050">
            <a:solidFill>
              <a:srgbClr val="CADCFC">
                <a:alpha val="6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3749040"/>
            <a:ext cx="3474720" cy="3474720"/>
          </a:xfrm>
          <a:prstGeom prst="ellipse">
            <a:avLst/>
          </a:prstGeom>
          <a:ln w="19050">
            <a:solidFill>
              <a:srgbClr val="CADCFC">
                <a:alpha val="4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15400" y="4343400"/>
            <a:ext cx="2286000" cy="2286000"/>
          </a:xfrm>
          <a:prstGeom prst="ellipse">
            <a:avLst/>
          </a:prstGeom>
          <a:ln w="19050">
            <a:solidFill>
              <a:srgbClr val="CADCFC">
                <a:alpha val="2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2368" y="5230368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ปริญญานิพนธ์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ระบบทุ่นตรวจวัดคุณภาพน้ำทะเล</a:t>
            </a:r>
            <a:endParaRPr lang="en-US" sz="4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แบบเรียลไทม์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Real-time Marine Water Quality Monitoring Buoy System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466344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CADC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ผู้จัดทำ: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[ชื่อ–สกุล]   [รหัสนักศึกษา]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CADC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อาจารย์ที่ปรึกษา: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[ชื่ออาจารย์ที่ปรึกษา]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[สาขาวิชา] · [คณะ] · [มหาวิทยาลัย]   ·   ปีการศึกษา [25xx]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บทที่ 1 · บทนำ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ที่มาและความสำคัญ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5331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การตรวจแบบเดิมช้าและไม่ต่อเนื่อง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75564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เก็บตัวอย่างน้ำส่งแล็บ ใช้เวลานาน ค่าใช้จ่ายสูง และแจ้งเตือนเหตุผิดปกติไม่ทัน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77063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ต้องเฝ้าระวังต่อเนื่อง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17296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น้ำทะเลชายฝั่งสำคัญต่อการท่องเที่ยว เพาะเลี้ยง และระบบนิเวศ จึงควรติดตามแบบเรียลไทม์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457200" cy="457200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1879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มาตรฐานไทยมี 6 ประเภท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59028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แต่ละประเภทการใช้ประโยชน์มีเกณฑ์ต่างกัน การประเมินจึงควรยืดหยุ่นตามพื้นที่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→ พัฒนาทุ่น IoT วัดต่อเนื่อง ส่งผ่าน 4G ขึ้นคลาวด์ และประเมินตามมาตรฐานน้ำทะเลไทยที่เลือกโหมดได้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บทที่ 1 · บทนำ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วัตถุประสงค์และขอบเขต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486400" cy="4846320"/>
          </a:xfrm>
          <a:prstGeom prst="roundRect">
            <a:avLst>
              <a:gd name="adj" fmla="val 1698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355080" y="1417320"/>
            <a:ext cx="5166360" cy="4846320"/>
          </a:xfrm>
          <a:prstGeom prst="roundRect">
            <a:avLst>
              <a:gd name="adj" fmla="val 1698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1600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วัตถุประสงค์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03120"/>
            <a:ext cx="49834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พัฒนาทุ่นที่วัดค่าและส่งข้อมูลขึ้นคลาวด์แบบเรียลไทม์ผ่าน 4G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ประเมินตามมาตรฐานน้ำทะเลไทยทั้ง 6 ประเภท ปรับเกณฑ์ตามโหมด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พัฒนาเว็บแดชบอร์ดและ Telegram แสดงผลและแจ้งเตือนอัตโนมัติ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พัฒนาระบบตรวจสอบสถานะทุ่นและสิทธิ์ผู้ใช้เพื่อความน่าเชื่อถือ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ขอบเขต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103120"/>
            <a:ext cx="46634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วัด 7 พารามิเตอร์ จากหัววัด 4 ชนิดที่ติดตั้ง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ไม่รวมค่าที่ต้องตรวจในแล็บ (แบคทีเรีย โลหะหนัก) และค่าที่ไม่ได้ติดหัววัด (ORP คลอโรฟิลล์ น้ำมัน สาหร่าย)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ประเมินด้วยพารามิเตอร์ที่ทุ่นวัดได้ตาม 6 โหมด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ต้นแบบ 1 ทุ่น (buoy-01) ออกแบบให้ขยายหลายทุ่นได้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ส่งข้อมูลผ่านเครือข่าย 4G (ต้องมีสัญญาณ/ซิม)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บทที่ 3 · การออกแบบ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ภาพรวมสถาปัตยกรรมระบบ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ฝั่งทุ่นลอยน้ำ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1371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ฝั่งคลาวด์ (ทำงาน 24/7)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371600" cy="822960"/>
          </a:xfrm>
          <a:prstGeom prst="roundRect">
            <a:avLst>
              <a:gd name="adj" fmla="val 888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1371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เซนเซอร์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 โพรบ 7 ค่า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029968" y="2103120"/>
            <a:ext cx="457200" cy="27432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2514600" y="1828800"/>
            <a:ext cx="1371600" cy="822960"/>
          </a:xfrm>
          <a:prstGeom prst="roundRect">
            <a:avLst>
              <a:gd name="adj" fmla="val 888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14600" y="1828800"/>
            <a:ext cx="1371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RS485-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to-TTL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904488" y="2103120"/>
            <a:ext cx="457200" cy="27432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9120" y="182880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1828800"/>
            <a:ext cx="15544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ESP32 + 4G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+ GPS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61888" y="2103120"/>
            <a:ext cx="457200" cy="27432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6464808" y="182880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4808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Supabase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PostgreSQL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379208" y="2651760"/>
            <a:ext cx="0" cy="59436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0" y="3246120"/>
            <a:ext cx="60350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26080" y="3246120"/>
            <a:ext cx="0" cy="41148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03120" y="3657600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03120" y="3657600"/>
            <a:ext cx="16459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เว็บแดชบอร์ด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(realtime + แผนที่)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943600" y="3246120"/>
            <a:ext cx="0" cy="41148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20640" y="3657600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0" y="3657600"/>
            <a:ext cx="16459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Telegram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(แจ้งเตือน + บอท)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61120" y="3246120"/>
            <a:ext cx="0" cy="41148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0" y="3657600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38160" y="3657600"/>
            <a:ext cx="16459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Edge: admin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(เลือกโหมด)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580644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14400" y="58978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หลักการสำคัญ:  </a:t>
            </a:r>
            <a:pPr indent="0" marL="0">
              <a:buNone/>
            </a:pPr>
            <a:r>
              <a:rPr lang="en-US" sz="13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ทุ่นทำแค่ “วัดและส่งข้อมูล” ส่วนการประเมิน แสดงผล และแจ้งเตือนทำที่คลาวด์ทั้งหมด → ปรับเกณฑ์/เพิ่มฟีเจอร์ได้โดยไม่ต้อง flash ทุ่นใหม่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บทที่ 3 · การออกแบบ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ฮาร์ดแวร์และภาคจ่ายไฟ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ภาคจ่ายไฟ (พลังงานแสงอาทิตย์)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828800"/>
            <a:ext cx="15544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โซล่าเซลล์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231136" y="2103120"/>
            <a:ext cx="365760" cy="27432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8" name="Shape 6"/>
          <p:cNvSpPr/>
          <p:nvPr/>
        </p:nvSpPr>
        <p:spPr>
          <a:xfrm>
            <a:off x="2633472" y="182880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33472" y="1828800"/>
            <a:ext cx="15544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Control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(OLYS)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24528" y="2103120"/>
            <a:ext cx="365760" cy="27432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18288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26864" y="1828800"/>
            <a:ext cx="14630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แบตเตอรี่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12V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0" y="2103120"/>
            <a:ext cx="365760" cy="27432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6528816" y="182880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28816" y="1828800"/>
            <a:ext cx="11887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Delay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54112" y="2103120"/>
            <a:ext cx="365760" cy="27432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7" name="Shape 15"/>
          <p:cNvSpPr/>
          <p:nvPr/>
        </p:nvSpPr>
        <p:spPr>
          <a:xfrm>
            <a:off x="8156448" y="182880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156448" y="1828800"/>
            <a:ext cx="15544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ไฟออก 12V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063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ฮาร์ดแวร์หลัก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3566160"/>
            <a:ext cx="10972800" cy="566928"/>
          </a:xfrm>
          <a:prstGeom prst="roundRect">
            <a:avLst>
              <a:gd name="adj" fmla="val 14516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68680" y="3566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ESP32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356616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LilyGO T-Call-A7670 V1.0 (A7670E — LTE Cat-1 + GNSS ในตัว)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224528"/>
            <a:ext cx="10972800" cy="566928"/>
          </a:xfrm>
          <a:prstGeom prst="roundRect">
            <a:avLst>
              <a:gd name="adj" fmla="val 14516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68680" y="42245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เซนเซอร์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422452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Online Multi-parameter Sensor (Modbus RTU 9600 8N1) ผ่าน RS485-to-TTL · ติดตั้งหัววัด DO, TUR, CT/SAL, pH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4882896"/>
            <a:ext cx="10972800" cy="566928"/>
          </a:xfrm>
          <a:prstGeom prst="roundRect">
            <a:avLst>
              <a:gd name="adj" fmla="val 14516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ไฟ 2 ระดับ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926080" y="4882896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12V เลี้ยงเซนเซอร์ · 5V (Step-down) เลี้ยง ESP32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541264"/>
            <a:ext cx="10972800" cy="566928"/>
          </a:xfrm>
          <a:prstGeom prst="roundRect">
            <a:avLst>
              <a:gd name="adj" fmla="val 14516"/>
            </a:avLst>
          </a:prstGeom>
          <a:solidFill>
            <a:srgbClr val="FBEEDD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68680" y="55412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8A1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ข้อควรระวัง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2926080" y="5541264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ต้องต่อ GND ร่วม (common ground) ทุกตัวที่ GND BAR ไม่งั้นสัญญาณ RS485 เพี้ยน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บทที่ 3 · การออกแบบ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 พารามิเตอร์ จากหัววัด 4 ชนิดที่ติดตั้ง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 ค่าหลัก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103120" cy="1097280"/>
          </a:xfrm>
          <a:prstGeom prst="roundRect">
            <a:avLst>
              <a:gd name="adj" fmla="val 7500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ออกซิเจนละลายน้ำ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32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โพรบ DO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57500" y="1783080"/>
            <a:ext cx="2103120" cy="1097280"/>
          </a:xfrm>
          <a:prstGeom prst="roundRect">
            <a:avLst>
              <a:gd name="adj" fmla="val 7500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94660" y="1874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Turbidity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94660" y="22402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ความขุ่น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994660" y="2532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โพรบ TUR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74920" y="1783080"/>
            <a:ext cx="2103120" cy="1097280"/>
          </a:xfrm>
          <a:prstGeom prst="roundRect">
            <a:avLst>
              <a:gd name="adj" fmla="val 7500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12080" y="1874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Salinity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22402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ความเค็ม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532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โพรบ CT/SAL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292340" y="1783080"/>
            <a:ext cx="2103120" cy="1097280"/>
          </a:xfrm>
          <a:prstGeom prst="roundRect">
            <a:avLst>
              <a:gd name="adj" fmla="val 7500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429500" y="1874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Conductivity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2402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การนำไฟฟ้า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2532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โพรบ CT/SAL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509760" y="1783080"/>
            <a:ext cx="2103120" cy="1097280"/>
          </a:xfrm>
          <a:prstGeom prst="roundRect">
            <a:avLst>
              <a:gd name="adj" fmla="val 7500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646920" y="1874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pH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46920" y="22402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ความเป็นกรด-ด่าง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646920" y="2532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โพรบ pH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108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ค่ารอง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3520440"/>
            <a:ext cx="210312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77240" y="3611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9776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ออกซิเจนอิ่มตัว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4270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จากโพรบ DO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857500" y="3520440"/>
            <a:ext cx="210312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994660" y="3611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Temp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2994660" y="39776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อุณหภูมิ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994660" y="4270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วัดในตัวเครื่อง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20640" y="3520440"/>
            <a:ext cx="6492240" cy="1097280"/>
          </a:xfrm>
          <a:prstGeom prst="roundRect">
            <a:avLst>
              <a:gd name="adj" fmla="val 7500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5349240" y="361188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หัววัดที่ติดตั้ง 4 ชนิด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 (Y504-B) · TUR (Y510-C) · CT/SAL (Y521-B) · pH (Y532-B)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4892040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FBEEDD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14400" y="498348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08A1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ไม่มี ORP · คลอโรฟิลล์ · น้ำมัน · สาหร่าย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— เซนเซอร์รองรับหัววัดเสริม แต่ชุดที่ใช้ไม่ได้ติดตั้ง ข้อมูลจริงอ่านได้ 0 ทุกแถว (ORP ในน้ำทะเลจริงต้องได้หลักร้อย mV) จึงตัดออก และเก็บคอลัมน์ฐานข้อมูลไว้รองรับการติดเพิ่ม
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08A1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ไม่มี TDS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— เป็นค่าคำนวณจากการนำไฟฟ้า ไม่ใช่ค่าจากหัววัดจริง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บทที่ 3 · จุดเด่นของระบบ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 6 โหมดมาตรฐานน้ำทะเลไทย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เลือกประเภทการใช้ประโยชน์ → เกณฑ์ สีสถานะ สถานะรวม และการแจ้งเตือน เปลี่ยนตามโหมดพร้อมกัน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6576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40280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240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โหมดที่ 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263347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อนุรักษ์ทรัพยากรธรรมชาติ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1920240"/>
            <a:ext cx="36576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22402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09160" y="2240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โหมดที่ 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263347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อนุรักษ์แหล่งปะการัง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38160" y="1920240"/>
            <a:ext cx="36576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2240280"/>
            <a:ext cx="731520" cy="73152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240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37260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5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โหมดที่ 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372600" y="263347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การเพาะเลี้ยงสัตว์น้ำ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114800"/>
            <a:ext cx="36576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60120" y="4434840"/>
            <a:ext cx="731520" cy="731520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1874520" y="4526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โหมดที่ 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874520" y="482803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นันทนาการ (ลงเล่นน้ำ)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389120" y="4114800"/>
            <a:ext cx="36576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09160" y="4434840"/>
            <a:ext cx="731520" cy="7315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70916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5623560" y="4526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โหมดที่ 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23560" y="482803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อุตสาหกรรมและท่าเรือ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138160" y="4114800"/>
            <a:ext cx="36576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58200" y="4434840"/>
            <a:ext cx="731520" cy="731520"/>
          </a:xfrm>
          <a:prstGeom prst="ellipse">
            <a:avLst/>
          </a:prstGeom>
          <a:solidFill>
            <a:srgbClr val="6D4C7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5820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9372600" y="4526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C7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โหมดที่ 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372600" y="482803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เขตชุมชนชายฝั่ง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บทที่ 3 · การประเมินผล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สถานะสีรายค่า + สถานะรวม (Model A)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83080"/>
            <a:ext cx="731520" cy="73152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783080" y="1691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9E5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ปลอดภัย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อยู่ในเกณฑ์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46304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783080"/>
            <a:ext cx="731520" cy="731520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68112" y="1691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8A1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ระวัง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68112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เริ่มเกินเกณฑ์เฝ้าระวัง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10144" y="146304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84464" y="1783080"/>
            <a:ext cx="731520" cy="73152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53144" y="1691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6454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อันตราย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เกินเกณฑ์วิกฤต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063240"/>
            <a:ext cx="10972800" cy="1280160"/>
          </a:xfrm>
          <a:prstGeom prst="roundRect">
            <a:avLst>
              <a:gd name="adj" fmla="val 6429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3200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สถานะรวมแบบ Model 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566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ค่าแดงไม่ได้แปลว่าสถานะรวมแดงเสมอไป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— แยกพารามิเตอร์เป็น 2 ระดับ:  มีค่า “วิกฤต” เป็นแดง → รวมแดง   ·   ถ้ามีเพียงค่า “เฝ้าระวัง” แดง/ส้ม → รวมส้ม   ·   ปกติทั้งหมด → รวมเขียว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10972800" cy="1783080"/>
          </a:xfrm>
          <a:prstGeom prst="roundRect">
            <a:avLst>
              <a:gd name="adj" fmla="val 4615"/>
            </a:avLst>
          </a:prstGeom>
          <a:solidFill>
            <a:srgbClr val="EAF4E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4663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5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ตัวอย่าง: ค่าเดียวกัน ต่างโหมด ต่างผล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074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 = 3.5 mg/L </a:t>
            </a:r>
            <a:pPr indent="0" marL="0">
              <a:buNone/>
            </a:pPr>
            <a:r>
              <a:rPr lang="en-US" sz="14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→ ในโหมด </a:t>
            </a:r>
            <a:pPr indent="0" marL="0">
              <a:buNone/>
            </a:pPr>
            <a:r>
              <a:rPr lang="en-US" sz="1450" b="1" dirty="0">
                <a:solidFill>
                  <a:srgbClr val="D6454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นันทนาการ </a:t>
            </a:r>
            <a:pPr indent="0" marL="0">
              <a:buNone/>
            </a:pPr>
            <a:r>
              <a:rPr lang="en-US" sz="14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= อันตราย (แดง)   แต่ในโหมด </a:t>
            </a:r>
            <a:pPr indent="0" marL="0">
              <a:buNone/>
            </a:pPr>
            <a:r>
              <a:rPr lang="en-US" sz="1450" b="1" dirty="0">
                <a:solidFill>
                  <a:srgbClr val="E08A1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อุตสาหกรรม </a:t>
            </a:r>
            <a:pPr indent="0" marL="0">
              <a:buNone/>
            </a:pPr>
            <a:r>
              <a:rPr lang="en-US" sz="14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= เพียงเฝ้าระวัง (ส้ม)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56692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→ พิสูจน์ว่าระบบประเมินตามการใช้ประโยชน์ได้จริงตามหลักมาตรฐานไทย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บทที่ 4 · ผลการดำเนินงาน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เว็บแดชบอร์ด + Google Map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6675120" cy="4800600"/>
          </a:xfrm>
          <a:prstGeom prst="roundRect">
            <a:avLst>
              <a:gd name="adj" fmla="val 1143"/>
            </a:avLst>
          </a:prstGeom>
          <a:solidFill>
            <a:srgbClr val="F4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56616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[ ใส่ screenshot หน้าเว็บแดชบอร์ด 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589520" y="15544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1508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การ์ด 7 ค่า พร้อมสีสถานะ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1938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แสดงทุกพารามิเตอร์แบบเรียลไทม์ ไฮไลต์สีตามเกณฑ์โหมด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89520" y="27432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58952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2697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สถานะรวม + คำแนะนำตามโหมด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312724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สรุปภาพรวมคุณภาพน้ำและข้อความแนะนำ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0" y="39319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8952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3886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Google Map ตามพิกัด GPS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31596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ตามตำแหน่งทุ่นจริง · ไม่พบพิกัด = แจ้งเตือน ไม่ hard-code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0" y="512064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8952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5074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Export CSV แบบติ๊กเลือกค่า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55046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เลือกเฉพาะพารามิเตอร์ที่ต้องการดาวน์โหลด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บทที่ 4 · ผลการดำเนินงาน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Telegram Bot และการแจ้งเตือน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6675120" cy="841248"/>
          </a:xfrm>
          <a:prstGeom prst="roundRect">
            <a:avLst>
              <a:gd name="adj" fmla="val 9783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09928"/>
            <a:ext cx="160020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70992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/status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1508760"/>
            <a:ext cx="4572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ดูค่าน้ำล่าสุดทุกพารามิเตอร์ พร้อมสีสถานะ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6675120" cy="841248"/>
          </a:xfrm>
          <a:prstGeom prst="roundRect">
            <a:avLst>
              <a:gd name="adj" fmla="val 9783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670048"/>
            <a:ext cx="160020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267004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/swim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468880"/>
            <a:ext cx="4572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สรุปว่าช่วงนี้ทำกิจกรรมทางน้ำได้หรือไม่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6675120" cy="841248"/>
          </a:xfrm>
          <a:prstGeom prst="roundRect">
            <a:avLst>
              <a:gd name="adj" fmla="val 9783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630168"/>
            <a:ext cx="160020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363016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3429000"/>
            <a:ext cx="4572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เปลี่ยนโหมดมาตรฐาน (เฉพาะแอดมิน)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89120"/>
            <a:ext cx="6675120" cy="841248"/>
          </a:xfrm>
          <a:prstGeom prst="roundRect">
            <a:avLst>
              <a:gd name="adj" fmla="val 9783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590288"/>
            <a:ext cx="160020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59028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/start /stop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651760" y="4389120"/>
            <a:ext cx="4572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สมัคร / ยกเลิกรับการแจ้งเตือน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589520" y="1508760"/>
            <a:ext cx="4023360" cy="3566160"/>
          </a:xfrm>
          <a:prstGeom prst="roundRect">
            <a:avLst>
              <a:gd name="adj" fmla="val 1538"/>
            </a:avLst>
          </a:prstGeom>
          <a:solidFill>
            <a:srgbClr val="F4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0" y="30175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[ ใส่ screenshot แชท Telegram ]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589520" y="5257800"/>
            <a:ext cx="4023360" cy="1051560"/>
          </a:xfrm>
          <a:prstGeom prst="roundRect">
            <a:avLst>
              <a:gd name="adj" fmla="val 7826"/>
            </a:avLst>
          </a:prstGeom>
          <a:solidFill>
            <a:srgbClr val="FBE9E9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818120" y="534924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D6454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แจ้งเตือนอัตโนมัติ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เมื่อสถานะรวม “แดง” ตามโหมด ส่งหาผู้สมัครทุกคน (cooldown 30 นาที)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บทที่ 3-4 · ความน่าเชื่อถือ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สิทธิ์ผู้ใช้ และสถานะทุ่น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800600"/>
          </a:xfrm>
          <a:prstGeom prst="roundRect">
            <a:avLst>
              <a:gd name="adj" fmla="val 1714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6276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สิทธิ์ผู้ใช้ 2 ระดับ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4884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ผู้ใช้ทั่วไป (User)
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เห็นค่าน้ำ สถานะ แผนที่ และ export — ไม่เห็นตัวเลือกเปลี่ยนโหมด
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แอดมิน (Admin)
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เข้าผ่าน /admin → ล็อกอิน → เลือกโหมดได้ + ปุ่มออกจากระบบ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4937760" cy="1463040"/>
          </a:xfrm>
          <a:prstGeom prst="roundRect">
            <a:avLst>
              <a:gd name="adj" fmla="val 5625"/>
            </a:avLst>
          </a:prstGeom>
          <a:solidFill>
            <a:srgbClr val="EAF4E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143000" y="4681728"/>
            <a:ext cx="4526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E9E5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ปลอดภัยฝั่งเซิร์ฟเวอร์: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รหัสผ่านเก็บใน Supabase secret ตรวจผ่าน Edge Function + RLS ล็อกไม่ให้ anon เปลี่ยนโหมด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55080" y="1463040"/>
            <a:ext cx="5166360" cy="48006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629400" y="16276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สถานะทุ่น (Liveness + Heartbeat)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675120" y="2194560"/>
            <a:ext cx="384048" cy="384048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23760" y="2130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ออนไลน์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468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ส่งข้อมูลภายใน 45 วินาที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75120" y="3035808"/>
            <a:ext cx="384048" cy="38404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23760" y="2971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ข้อมูลเก่า (stale)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3101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เงียบ 45 วิ – 5 นาที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3877056"/>
            <a:ext cx="384048" cy="384048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23760" y="38130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ออฟไลน์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415137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เงียบเกิน 5 นาที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629400" y="4754880"/>
            <a:ext cx="4617720" cy="1325880"/>
          </a:xfrm>
          <a:prstGeom prst="roundRect">
            <a:avLst>
              <a:gd name="adj" fmla="val 6207"/>
            </a:avLst>
          </a:prstGeom>
          <a:solidFill>
            <a:srgbClr val="FBEEDD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858000" y="4846320"/>
            <a:ext cx="41605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8A1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Heartbeat: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ถ้าอ่านเซนเซอร์ไม่ได้ (หรือได้ค่า 0 ทั้งหมด) ทุ่นยังส่ง sensor_ok=false → แยก “เซนเซอร์เสีย” ออกจาก “ทุ่น/4G หลุด”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บทที่ 4 · 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ผลการทดสอบระบบ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4290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23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กรณีทดสอบ (TC-01 … TC-23)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61688" y="1554480"/>
            <a:ext cx="34290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361688" y="169164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E9E5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100%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4544568" y="2697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ผ่านการทดสอบ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83296" y="1554480"/>
            <a:ext cx="34290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83296" y="169164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5200" dirty="0"/>
          </a:p>
        </p:txBody>
      </p:sp>
      <p:sp>
        <p:nvSpPr>
          <p:cNvPr id="12" name="Text 10"/>
          <p:cNvSpPr txBox="1"/>
          <p:nvPr/>
        </p:nvSpPr>
        <p:spPr>
          <a:xfrm>
            <a:off x="8266176" y="2697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B7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โหมดมาตรฐานทดสอบครบ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611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ขอบเขตการทดสอบ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069080"/>
            <a:ext cx="10607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✓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การรับ-ส่งข้อมูลจากทุ่นขึ้นคลาวด์ผ่าน 4G (HTTP 201)</a:t>
            </a:r>
            <a:endParaRPr lang="en-US" sz="1400" dirty="0"/>
          </a:p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✓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การประเมินสีรายค่าและสถานะรวมถูกต้องในแต่ละโหมด</a:t>
            </a:r>
            <a:endParaRPr lang="en-US" sz="1400" dirty="0"/>
          </a:p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✓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การสลับโหมดจากเว็บและ Telegram ซิงค์ตรงกัน</a:t>
            </a:r>
            <a:endParaRPr lang="en-US" sz="1400" dirty="0"/>
          </a:p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✓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การแจ้งเตือนเมื่อสถานะรวมแดง และ cooldown กันเตือนซ้ำ</a:t>
            </a:r>
            <a:endParaRPr lang="en-US" sz="1400" dirty="0"/>
          </a:p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✓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สถานะทุ่น online/stale/offline และ heartbeat เมื่อเซนเซอร์ล้มเหลว</a:t>
            </a:r>
            <a:endParaRPr lang="en-US" sz="1400" dirty="0"/>
          </a:p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✓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ระบบสิทธิ์ผู้ใช้ (user เห็นค่า / admin เปลี่ยนโหมด)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บทที่ 4 · เปรียบเทียบ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เปรียบเทียบระบบเดิมกับระบบที่พัฒนา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743200" cy="576072"/>
          </a:xfrm>
          <a:prstGeom prst="rect">
            <a:avLst/>
          </a:prstGeom>
          <a:solidFill>
            <a:srgbClr val="21295C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08760"/>
            <a:ext cx="25603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383280" y="1508760"/>
            <a:ext cx="3749040" cy="576072"/>
          </a:xfrm>
          <a:prstGeom prst="rect">
            <a:avLst/>
          </a:prstGeom>
          <a:solidFill>
            <a:srgbClr val="21295C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93008" y="1508760"/>
            <a:ext cx="3566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ระบบเดิม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132320" y="1508760"/>
            <a:ext cx="4480560" cy="576072"/>
          </a:xfrm>
          <a:prstGeom prst="rect">
            <a:avLst/>
          </a:prstGeom>
          <a:solidFill>
            <a:srgbClr val="21295C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42048" y="1508760"/>
            <a:ext cx="4297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ระบบที่พัฒนาขึ้น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084832"/>
            <a:ext cx="274320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084832"/>
            <a:ext cx="25603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เกณฑ์มาตรฐาน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383280" y="2084832"/>
            <a:ext cx="37490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93008" y="2084832"/>
            <a:ext cx="3566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ชุดเดียวตายตัว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32320" y="2084832"/>
            <a:ext cx="4480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42048" y="2084832"/>
            <a:ext cx="4297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 โหมดตามการใช้ประโยชน์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2660904"/>
            <a:ext cx="2743200" cy="576072"/>
          </a:xfrm>
          <a:prstGeom prst="rect">
            <a:avLst/>
          </a:prstGeom>
          <a:solidFill>
            <a:srgbClr val="F4F8FB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2660904"/>
            <a:ext cx="25603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พารามิเตอร์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383280" y="2660904"/>
            <a:ext cx="3749040" cy="576072"/>
          </a:xfrm>
          <a:prstGeom prst="rect">
            <a:avLst/>
          </a:prstGeom>
          <a:solidFill>
            <a:srgbClr val="F4F8FB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93008" y="2660904"/>
            <a:ext cx="3566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รวม TDS และค่า 0 จากหัววัดที่ไม่มี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132320" y="2660904"/>
            <a:ext cx="4480560" cy="576072"/>
          </a:xfrm>
          <a:prstGeom prst="rect">
            <a:avLst/>
          </a:prstGeom>
          <a:solidFill>
            <a:srgbClr val="F4F8FB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42048" y="2660904"/>
            <a:ext cx="4297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 ค่าที่วัดได้จริง (ตรวจด้วยข้อมูลจริง)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3236976"/>
            <a:ext cx="274320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3236976"/>
            <a:ext cx="25603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การประเมิน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383280" y="3236976"/>
            <a:ext cx="37490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93008" y="3236976"/>
            <a:ext cx="3566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ธง 3 สีรวม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132320" y="3236976"/>
            <a:ext cx="4480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42048" y="3236976"/>
            <a:ext cx="4297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สีรายค่า + สถานะรวม Model A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3813048"/>
            <a:ext cx="2743200" cy="576072"/>
          </a:xfrm>
          <a:prstGeom prst="rect">
            <a:avLst/>
          </a:prstGeom>
          <a:solidFill>
            <a:srgbClr val="F4F8FB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9808" y="3813048"/>
            <a:ext cx="25603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การแจ้งเตือน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3383280" y="3813048"/>
            <a:ext cx="3749040" cy="576072"/>
          </a:xfrm>
          <a:prstGeom prst="rect">
            <a:avLst/>
          </a:prstGeom>
          <a:solidFill>
            <a:srgbClr val="F4F8FB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493008" y="3813048"/>
            <a:ext cx="3566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ข้อความตายตัว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7132320" y="3813048"/>
            <a:ext cx="4480560" cy="576072"/>
          </a:xfrm>
          <a:prstGeom prst="rect">
            <a:avLst/>
          </a:prstGeom>
          <a:solidFill>
            <a:srgbClr val="F4F8FB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242048" y="3813048"/>
            <a:ext cx="4297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ตามโหมด + cooldown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4389120"/>
            <a:ext cx="274320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9808" y="4389120"/>
            <a:ext cx="25603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สถานะทุ่น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3383280" y="4389120"/>
            <a:ext cx="37490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493008" y="4389120"/>
            <a:ext cx="3566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ไม่มี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7132320" y="4389120"/>
            <a:ext cx="4480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42048" y="4389120"/>
            <a:ext cx="4297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liveness + heartbeat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40080" y="4965192"/>
            <a:ext cx="2743200" cy="576072"/>
          </a:xfrm>
          <a:prstGeom prst="rect">
            <a:avLst/>
          </a:prstGeom>
          <a:solidFill>
            <a:srgbClr val="F4F8FB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49808" y="4965192"/>
            <a:ext cx="25603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แผนที่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3383280" y="4965192"/>
            <a:ext cx="3749040" cy="576072"/>
          </a:xfrm>
          <a:prstGeom prst="rect">
            <a:avLst/>
          </a:prstGeom>
          <a:solidFill>
            <a:srgbClr val="F4F8FB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493008" y="4965192"/>
            <a:ext cx="3566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เรดาร์จำลอง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7132320" y="4965192"/>
            <a:ext cx="4480560" cy="576072"/>
          </a:xfrm>
          <a:prstGeom prst="rect">
            <a:avLst/>
          </a:prstGeom>
          <a:solidFill>
            <a:srgbClr val="F4F8FB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242048" y="4965192"/>
            <a:ext cx="4297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Google Map ตามพิกัดจริง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40080" y="5541264"/>
            <a:ext cx="274320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49808" y="5541264"/>
            <a:ext cx="25603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สิทธิ์ / ความปลอดภัย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3383280" y="5541264"/>
            <a:ext cx="37490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493008" y="5541264"/>
            <a:ext cx="3566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ไม่มี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7132320" y="5541264"/>
            <a:ext cx="4480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242048" y="5541264"/>
            <a:ext cx="4297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 role + RLS + Edge Function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บทที่ 5 · สรุป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สรุปผลและข้อเสนอแนะ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800600"/>
          </a:xfrm>
          <a:prstGeom prst="roundRect">
            <a:avLst>
              <a:gd name="adj" fmla="val 1714"/>
            </a:avLst>
          </a:prstGeom>
          <a:solidFill>
            <a:srgbClr val="EAF4E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6276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E5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สรุปผล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48840"/>
            <a:ext cx="4983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พัฒนาระบบสำเร็จครบตามวัตถุประสงค์ทั้ง 4 ข้อ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ประเมินตามการใช้ประโยชน์ได้จริง (ค่าเดียวกันต่างผลตามโหมด)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ประมวลผลฝั่งคลาวด์ → แก้เกณฑ์/เพิ่มฟีเจอร์โดยไม่ต้อง flash ทุ่น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ทดสอบผ่านครบ 23 เคส (100%)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463040"/>
            <a:ext cx="5166360" cy="4800600"/>
          </a:xfrm>
          <a:prstGeom prst="roundRect">
            <a:avLst>
              <a:gd name="adj" fmla="val 1714"/>
            </a:avLst>
          </a:prstGeom>
          <a:solidFill>
            <a:srgbClr val="F4F8FB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9FB4C2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29400" y="16276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ข้อเสนอแนะ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148840"/>
            <a:ext cx="46634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ติดตั้งหัววัดเสริม ORP / คลอโรฟิลล์ / น้ำมัน / สาหร่าย (ระบบรองรับไว้แล้ว)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เพิ่มการตรวจแบคทีเรีย (E. coli/Enterococci) สำหรับน้ำนันทนาการ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รองรับหลายทุ่นพร้อมกันบนแผนที่รวม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จัดการพลังงาน/ความร้อนสำหรับใช้งานกลางทะเลระยะยาว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ตั้งค่าฐานธรรมชาติ (baseline) ต่อจุดติดตั้ง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230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นำ Machine Learning มาพยากรณ์แนวโน้มและตรวจจับความผิดปกติ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" y="-731520"/>
            <a:ext cx="4389120" cy="4389120"/>
          </a:xfrm>
          <a:prstGeom prst="ellipse">
            <a:avLst/>
          </a:prstGeom>
          <a:ln w="19050">
            <a:solidFill>
              <a:srgbClr val="CADCFC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-91440"/>
            <a:ext cx="3108960" cy="3108960"/>
          </a:xfrm>
          <a:prstGeom prst="ellipse">
            <a:avLst/>
          </a:prstGeom>
          <a:ln w="19050">
            <a:solidFill>
              <a:srgbClr val="CADCFC">
                <a:alpha val="3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457200"/>
            <a:ext cx="2011680" cy="2011680"/>
          </a:xfrm>
          <a:prstGeom prst="ellipse">
            <a:avLst/>
          </a:prstGeom>
          <a:ln w="19050">
            <a:solidFill>
              <a:srgbClr val="CADCFC">
                <a:alpha val="19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5603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ขอบคุณครับ / ค่ะ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ยินดีรับคำถามและข้อเสนอแนะ  (Q &amp; A)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4937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ระบบทุ่นตรวจวัดคุณภาพน้ำทะเลแบบเรียลไทม์
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8FB3C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GitHub: MERMAX04/Real-time-Marine-Water-Quality-Monitoring-Buoy-System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ระบบทุ่นตรวจวัดคุณภาพน้ำทะเลแบบเรียลไทม์</dc:title>
  <dc:subject>PptxGenJS Presentation</dc:subject>
  <dc:creator>Buoy Project</dc:creator>
  <cp:lastModifiedBy>Buoy Project</cp:lastModifiedBy>
  <cp:revision>1</cp:revision>
  <dcterms:created xsi:type="dcterms:W3CDTF">2026-10-08T06:03:11Z</dcterms:created>
  <dcterms:modified xsi:type="dcterms:W3CDTF">2026-10-08T06:03:11Z</dcterms:modified>
</cp:coreProperties>
</file>